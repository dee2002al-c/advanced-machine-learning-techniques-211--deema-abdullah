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77D"/>
                </a:solidFill>
                <a:latin typeface="Aptos"/>
              </a:defRPr>
            </a:pPr>
            <a:r>
              <a:t>SDA-DSC-211  /  TAMWEEL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50616F"/>
                </a:solidFill>
                <a:latin typeface="Aptos"/>
              </a:defRPr>
            </a:pPr>
            <a:r>
              <a:t>PROBLEM &amp; PRACTICAL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2253B"/>
                </a:solidFill>
                <a:latin typeface="Aptos"/>
              </a:defRPr>
            </a:pPr>
            <a:r>
              <a:t>Which applications should receive review?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0616F"/>
                </a:solidFill>
                <a:latin typeface="Aptos"/>
              </a:defRPr>
            </a:pPr>
            <a:r>
              <a:t>A decision-support exercise: rank simulated 90-day default risk while respecting review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10972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16F"/>
                </a:solidFill>
                <a:latin typeface="Aptos"/>
              </a:defRPr>
            </a:pPr>
            <a:r>
              <a:t>01 / 05  •  Synthetic data  •  Educational use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14600"/>
            <a:ext cx="5394960" cy="3246120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79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The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Flag a limited set of applications for additional review, not automatic loan rejection.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Inputs: synthetic loan features; target: default within 90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514600"/>
            <a:ext cx="5532120" cy="3246120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79192"/>
            <a:ext cx="5166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What counts as useful?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108960"/>
            <a:ext cx="516635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Simulated cost = 10 × false negatives + 1 × false positives.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Capacity: at most 12% of applications flagged per validation period.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No real-world credit or legal claim.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77D"/>
                </a:solidFill>
                <a:latin typeface="Aptos"/>
              </a:defRPr>
            </a:pPr>
            <a:r>
              <a:t>SDA-DSC-211  /  TAMWEEL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50616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2253B"/>
                </a:solidFill>
                <a:latin typeface="Aptos"/>
              </a:defRPr>
            </a:pPr>
            <a:r>
              <a:t>A leakage-aware, reproducible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0616F"/>
                </a:solidFill>
                <a:latin typeface="Aptos"/>
              </a:defRPr>
            </a:pPr>
            <a:r>
              <a:t>Selection evidence is separated from calibration and from the unlabeled challenge batch.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10972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16F"/>
                </a:solidFill>
                <a:latin typeface="Aptos"/>
              </a:defRPr>
            </a:pPr>
            <a:r>
              <a:t>02 / 05  •  Synthetic data  •  Educational use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3429000" cy="3246120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33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DATA &amp; SPLITS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3063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Synthetic train/challenge roles. Forward-time, customer-separated folds; respect label maturity.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468880"/>
            <a:ext cx="3429000" cy="3246120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633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TRAIN &amp; 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063240"/>
            <a:ext cx="3063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Drop leakage features (days_past_due_60, collection_calls). Fit preprocessing and tuning on eligible training rows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468880"/>
            <a:ext cx="3429000" cy="3246120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6334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FREEZE &amp; APPLY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063240"/>
            <a:ext cx="3063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2,155 LIVE OOF rows across three folds support the final comparison. Freeze model, calibrator and policy before challenge scoring.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2531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8777D"/>
                </a:solidFill>
                <a:latin typeface="Aptos"/>
              </a:defRPr>
            </a:pPr>
            <a:r>
              <a:t>Data  →  forward OOF comparison  →  KEEP SINGLE  →  calibration  →  frozen threshold &amp; 12% cap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77D"/>
                </a:solidFill>
                <a:latin typeface="Aptos"/>
              </a:defRPr>
            </a:pPr>
            <a:r>
              <a:t>SDA-DSC-211  /  TAMWEEL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50616F"/>
                </a:solidFill>
                <a:latin typeface="Aptos"/>
              </a:defRPr>
            </a:pPr>
            <a:r>
              <a:t>EVIDENCE &amp; ENSEMBLE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2253B"/>
                </a:solidFill>
                <a:latin typeface="Aptos"/>
              </a:defRPr>
            </a:pPr>
            <a:r>
              <a:t>KEEP SINGLE · 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0616F"/>
                </a:solidFill>
                <a:latin typeface="Aptos"/>
              </a:defRPr>
            </a:pPr>
            <a:r>
              <a:t>The predefined Worth-It Gate did not justify additional ensemble complexity.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10972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16F"/>
                </a:solidFill>
                <a:latin typeface="Aptos"/>
              </a:defRPr>
            </a:pPr>
            <a:r>
              <a:t>03 / 05  •  Synthetic data  •  Educational use only</a:t>
            </a:r>
          </a:p>
        </p:txBody>
      </p:sp>
      <p:pic>
        <p:nvPicPr>
          <p:cNvPr id="8" name="Picture 7" descr="day5_cell9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40280"/>
            <a:ext cx="7452360" cy="29041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2286000"/>
            <a:ext cx="3474720" cy="3456432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2450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Measured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59" y="2880360"/>
            <a:ext cx="3108960" cy="272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Mean OOF AP: Logistic 0.3917; Weighted 0.3894; Equal 0.3717.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Fold SD reference: 0.0298 (not a confidence interval).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OOF policy: threshold 0.16892; simulated loss 1,111; 245/2,155 flagged (11.37%).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017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0616F"/>
                </a:solidFill>
                <a:latin typeface="Aptos"/>
              </a:defRPr>
            </a:pPr>
            <a:r>
              <a:t>FN = 10, FP = 1. OOF evidence is not an unbiased challenge performance estimate.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77D"/>
                </a:solidFill>
                <a:latin typeface="Aptos"/>
              </a:defRPr>
            </a:pPr>
            <a:r>
              <a:t>SDA-DSC-211  /  TAMWEEL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50616F"/>
                </a:solidFill>
                <a:latin typeface="Aptos"/>
              </a:defRPr>
            </a:pPr>
            <a:r>
              <a:t>INTERPRETATION &amp;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2253B"/>
                </a:solidFill>
                <a:latin typeface="Aptos"/>
              </a:defRPr>
            </a:pPr>
            <a:r>
              <a:t>Explain the model—and the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0616F"/>
                </a:solidFill>
                <a:latin typeface="Aptos"/>
              </a:defRPr>
            </a:pPr>
            <a:r>
              <a:t>Day 4 interpretation belongs to its Day 4 model; it does not automatically explain final Logistic Regression.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10972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16F"/>
                </a:solidFill>
                <a:latin typeface="Aptos"/>
              </a:defRPr>
            </a:pPr>
            <a:r>
              <a:t>04 / 05  •  Synthetic data  •  Educational use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5394960" cy="3474720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96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One Day 4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7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Application TR-009585: raw model probability ≈ 0.9031; calibrated ≈ 0.4795.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SHAP values were expressed in raw log-odds for the Day 4 tree model; feature contributions are associative, not causal.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31720"/>
            <a:ext cx="5532120" cy="3474720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496312"/>
            <a:ext cx="5166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Final calibration diagnostic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79"/>
            <a:ext cx="51663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On the 836-row calibration-fit sample (78 positives):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Brier: 0.07647 raw → 0.07806 sigmoid.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ECE: 0.02112 raw → 0.03487 sigmoid.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Neither improved here. In-sample diagnostics are not independent calibration validation.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0616F"/>
                </a:solidFill>
                <a:latin typeface="Aptos"/>
              </a:defRPr>
            </a:pPr>
            <a:r>
              <a:t>Further review: independent calibration testing, reliability over time and region-level error stability.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87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8777D"/>
                </a:solidFill>
                <a:latin typeface="Aptos"/>
              </a:defRPr>
            </a:pPr>
            <a:r>
              <a:t>SDA-DSC-211  /  TAMWEEL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50616F"/>
                </a:solidFill>
                <a:latin typeface="Aptos"/>
              </a:defRPr>
            </a:pPr>
            <a:r>
              <a:t>DECISION, LIMITATIONS &amp;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800" b="1">
                <a:solidFill>
                  <a:srgbClr val="12253B"/>
                </a:solidFill>
                <a:latin typeface="Aptos"/>
              </a:defRPr>
            </a:pPr>
            <a:r>
              <a:t>Freeze, verify, monitor—do not overclaim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50616F"/>
                </a:solidFill>
                <a:latin typeface="Aptos"/>
              </a:defRPr>
            </a:pPr>
            <a:r>
              <a:t>The project supports an educational ranking/review workflow, not deployment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83096"/>
            <a:ext cx="10972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16F"/>
                </a:solidFill>
                <a:latin typeface="Aptos"/>
              </a:defRPr>
            </a:pPr>
            <a:r>
              <a:t>05 / 05  •  Synthetic data  •  Educational use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5394960" cy="3520440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96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Final operational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79"/>
            <a:ext cx="5029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KEEP SINGLE Logistic Regression.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Frozen OOF threshold: 0.16892 (raw-score policy).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Unlabeled challenge: 2,500 rows; 300 flagged under 12% batch cap. No challenge AP, loss or fairness metric is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31720"/>
            <a:ext cx="5532120" cy="3520440"/>
          </a:xfrm>
          <a:prstGeom prst="roundRect">
            <a:avLst/>
          </a:prstGeom>
          <a:solidFill>
            <a:srgbClr val="EC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496312"/>
            <a:ext cx="5166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8777D"/>
                </a:solidFill>
                <a:latin typeface="Aptos"/>
              </a:defRPr>
            </a:pPr>
            <a:r>
              <a:t>What would change my decision?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79"/>
            <a:ext cx="51663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1. Fresh labeled, time-separated data could change AP, simulated loss or the Worth-It Gate result.</a:t>
            </a: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500" b="0">
                <a:solidFill>
                  <a:srgbClr val="12253B"/>
                </a:solidFill>
                <a:latin typeface="Aptos"/>
              </a:defRPr>
            </a:pPr>
            <a:r>
              <a:t>2. Monitor calibration, capacity, temporal drift and region-level errors; retrain/recalibrate only with a new honest validation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7103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0616F"/>
                </a:solidFill>
                <a:latin typeface="Aptos"/>
              </a:defRPr>
            </a:pPr>
            <a:r>
              <a:t>Evidence: notebooks 01–05, artifacts/final_metrics.json, reports, and frozen inference outputs. Repo: dee2002al-c / Advanced-Machine-Learning-Techniques-211--Deema-Abdullah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